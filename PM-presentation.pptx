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74" r:id="rId3"/>
    <p:sldId id="258" r:id="rId4"/>
    <p:sldId id="260" r:id="rId5"/>
    <p:sldId id="276" r:id="rId6"/>
    <p:sldId id="265" r:id="rId7"/>
    <p:sldId id="27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3" d="100"/>
          <a:sy n="123" d="100"/>
        </p:scale>
        <p:origin x="-114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0069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854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2373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0503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3713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86755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6768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38428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7963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275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38683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641603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29991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90518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47694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59651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294785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109096-F51F-4966-A0E7-BEF9749886CB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EF0ECB1-70B7-419E-A9AD-8396A36D64D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9891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E1E1AF-0B5F-44F1-85A0-1F3BA0D4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151" y="1859280"/>
            <a:ext cx="10524809" cy="2834640"/>
          </a:xfrm>
        </p:spPr>
        <p:txBody>
          <a:bodyPr>
            <a:normAutofit/>
          </a:bodyPr>
          <a:lstStyle/>
          <a:p>
            <a:r>
              <a:rPr lang="en-US" sz="6000" dirty="0"/>
              <a:t>Project Management</a:t>
            </a:r>
            <a:endParaRPr lang="ar-EG" sz="6000" dirty="0"/>
          </a:p>
        </p:txBody>
      </p:sp>
    </p:spTree>
    <p:extLst>
      <p:ext uri="{BB962C8B-B14F-4D97-AF65-F5344CB8AC3E}">
        <p14:creationId xmlns:p14="http://schemas.microsoft.com/office/powerpoint/2010/main" val="3481107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7A6FB2-9BEF-44E2-A0F8-42FE63A4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Team Name:</a:t>
            </a:r>
            <a:endParaRPr lang="ar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AAB6072-BDE2-48E3-86F6-76EF2266E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r">
              <a:buFont typeface="+mj-lt"/>
              <a:buAutoNum type="arabicPeriod"/>
            </a:pPr>
            <a:r>
              <a:rPr lang="ar-EG" dirty="0"/>
              <a:t>سناء  محمد عبدالوهاب احمد</a:t>
            </a:r>
          </a:p>
          <a:p>
            <a:pPr marL="457200" indent="-457200" algn="r">
              <a:buFont typeface="+mj-lt"/>
              <a:buAutoNum type="arabicPeriod"/>
            </a:pPr>
            <a:r>
              <a:rPr lang="ar-EG" dirty="0"/>
              <a:t>سلسبيل سيد كمال سيد</a:t>
            </a:r>
          </a:p>
          <a:p>
            <a:pPr marL="457200" indent="-457200" algn="r">
              <a:buFont typeface="+mj-lt"/>
              <a:buAutoNum type="arabicPeriod"/>
            </a:pPr>
            <a:r>
              <a:rPr lang="ar-EG" dirty="0"/>
              <a:t>سلمي محمد سعدالدين محمد</a:t>
            </a:r>
          </a:p>
          <a:p>
            <a:pPr marL="457200" indent="-457200" algn="r">
              <a:buFont typeface="+mj-lt"/>
              <a:buAutoNum type="arabicPeriod"/>
            </a:pPr>
            <a:r>
              <a:rPr lang="ar-EG" dirty="0"/>
              <a:t>شروق احمد عبدالباسط بيومي</a:t>
            </a:r>
          </a:p>
          <a:p>
            <a:pPr marL="457200" indent="-457200" algn="r">
              <a:buFont typeface="+mj-lt"/>
              <a:buAutoNum type="arabicPeriod"/>
            </a:pPr>
            <a:r>
              <a:rPr lang="ar-EG" dirty="0"/>
              <a:t>سهيله حمدي عبدالعال محمد</a:t>
            </a:r>
          </a:p>
        </p:txBody>
      </p:sp>
    </p:spTree>
    <p:extLst>
      <p:ext uri="{BB962C8B-B14F-4D97-AF65-F5344CB8AC3E}">
        <p14:creationId xmlns:p14="http://schemas.microsoft.com/office/powerpoint/2010/main" val="1076277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767F28-BF6A-4291-BBCE-D78112A8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1219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4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Segoe UI Historic" panose="020B0502040204020203" pitchFamily="34" charset="0"/>
              </a:rPr>
              <a:t>   The first and main objective of this project:</a:t>
            </a:r>
            <a:endParaRPr lang="ar-EG" sz="4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B2220E7-DD10-4962-84F7-24911EF9C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0" y="1615736"/>
            <a:ext cx="10728960" cy="4785065"/>
          </a:xfrm>
        </p:spPr>
        <p:txBody>
          <a:bodyPr>
            <a:normAutofit fontScale="92500" lnSpcReduction="20000"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It is to spread awareness and culture among all people.                                </a:t>
            </a:r>
          </a:p>
          <a:p>
            <a:pPr marL="0" indent="0" algn="l">
              <a:buNone/>
            </a:pPr>
            <a:endParaRPr lang="en-US" sz="16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Provides the electronic library.</a:t>
            </a:r>
          </a:p>
          <a:p>
            <a:pPr marL="0" indent="0" algn="l" rtl="0">
              <a:buNone/>
            </a:pPr>
            <a:endParaRPr lang="en-US" sz="16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 </a:t>
            </a:r>
            <a:r>
              <a:rPr lang="en-US" sz="1600" dirty="0">
                <a:solidFill>
                  <a:srgbClr val="050505"/>
                </a:solidFill>
                <a:latin typeface="Segoe UI Historic" panose="020B0502040204020203" pitchFamily="34" charset="0"/>
              </a:rPr>
              <a:t>P</a:t>
            </a:r>
            <a:r>
              <a:rPr lang="en-US" sz="16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rovides its readers with all books and novels pdf.                                    </a:t>
            </a:r>
          </a:p>
          <a:p>
            <a:pPr marL="0" indent="0" algn="l">
              <a:buNone/>
            </a:pPr>
            <a:endParaRPr lang="en-US" sz="16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Help readers find the nearest library.    </a:t>
            </a:r>
          </a:p>
          <a:p>
            <a:pPr marL="0" indent="0" algn="l" rtl="0">
              <a:buNone/>
            </a:pPr>
            <a:endParaRPr lang="en-US" sz="16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50505"/>
                </a:solidFill>
                <a:latin typeface="Segoe UI Historic" panose="020B0502040204020203" pitchFamily="34" charset="0"/>
              </a:rPr>
              <a:t>Provides the same audiobooks for those who cannot read such as</a:t>
            </a:r>
          </a:p>
          <a:p>
            <a:pPr marL="0" indent="0" algn="l" rtl="0">
              <a:buNone/>
            </a:pPr>
            <a:r>
              <a:rPr lang="en-US" sz="1600" dirty="0">
                <a:solidFill>
                  <a:srgbClr val="050505"/>
                </a:solidFill>
                <a:latin typeface="Segoe UI Historic" panose="020B0502040204020203" pitchFamily="34" charset="0"/>
              </a:rPr>
              <a:t>   blind children and illiterate people.</a:t>
            </a:r>
            <a:endParaRPr lang="en-US" sz="16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marL="0" indent="0" algn="l">
              <a:buNone/>
            </a:pPr>
            <a:endParaRPr lang="ar-EG" sz="16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 It allows to access the books in the least time, effort and money</a:t>
            </a:r>
          </a:p>
          <a:p>
            <a:pPr marL="0" indent="0" algn="l" rtl="0">
              <a:buNone/>
            </a:pPr>
            <a:r>
              <a:rPr lang="en-US" sz="16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    as </a:t>
            </a:r>
            <a:r>
              <a:rPr lang="en-US" sz="1600" dirty="0">
                <a:solidFill>
                  <a:srgbClr val="050505"/>
                </a:solidFill>
                <a:latin typeface="Segoe UI Historic" panose="020B0502040204020203" pitchFamily="34" charset="0"/>
              </a:rPr>
              <a:t> well.</a:t>
            </a:r>
            <a:endParaRPr lang="en-US" sz="16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marL="0" indent="0" algn="l" rtl="0">
              <a:buNone/>
            </a:pPr>
            <a:r>
              <a:rPr lang="en-US" sz="16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                                                        </a:t>
            </a:r>
            <a:endParaRPr lang="ar-EG" sz="16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marL="0" indent="0">
              <a:buNone/>
            </a:pPr>
            <a:r>
              <a:rPr lang="en-US" sz="16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]</a:t>
            </a:r>
            <a:endParaRPr lang="ar-EG" sz="16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56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F38874-3A8C-4597-ADD9-E44AB51B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151" y="-213360"/>
            <a:ext cx="10018713" cy="1752599"/>
          </a:xfrm>
        </p:spPr>
        <p:txBody>
          <a:bodyPr>
            <a:normAutofit/>
          </a:bodyPr>
          <a:lstStyle/>
          <a:p>
            <a:pPr algn="l"/>
            <a:r>
              <a:rPr lang="en-US" sz="44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How does the team handle the work?</a:t>
            </a:r>
            <a:endParaRPr lang="ar-EG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377CDE6-C860-4664-812F-62DAE4D8B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847" y="1684019"/>
            <a:ext cx="10866120" cy="4914901"/>
          </a:xfrm>
        </p:spPr>
        <p:txBody>
          <a:bodyPr>
            <a:normAutofit/>
          </a:bodyPr>
          <a:lstStyle/>
          <a:p>
            <a:pPr algn="l" rtl="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We defined sub-goals.  </a:t>
            </a:r>
          </a:p>
          <a:p>
            <a:pPr marL="0" indent="0" algn="l" rtl="0">
              <a:buNone/>
            </a:pPr>
            <a:endParaRPr lang="en-US" sz="280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assigned tasks to team members.</a:t>
            </a:r>
          </a:p>
          <a:p>
            <a:pPr marL="0" indent="0" algn="l" rtl="0">
              <a:buNone/>
            </a:pPr>
            <a:endParaRPr lang="en-US" sz="2800" dirty="0">
              <a:solidFill>
                <a:srgbClr val="050505"/>
              </a:solidFill>
              <a:latin typeface="Segoe UI Historic" panose="020B0502040204020203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started implementation immediately.</a:t>
            </a:r>
          </a:p>
          <a:p>
            <a:pPr algn="l" rtl="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algn="l" rtl="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divided the time to complete a part of a part of the project and set the final time for it .</a:t>
            </a:r>
            <a:r>
              <a:rPr lang="en-US" sz="2800" dirty="0"/>
              <a:t/>
            </a:r>
            <a:br>
              <a:rPr lang="en-US" sz="2800" dirty="0"/>
            </a:b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988867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453BD18-56AB-47B3-97CC-1B65CFFA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 Deliverables: </a:t>
            </a: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ar-EG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B71119-9FC1-4F84-ACBD-90D562CDE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91361"/>
            <a:ext cx="10018713" cy="3799840"/>
          </a:xfrm>
        </p:spPr>
        <p:txBody>
          <a:bodyPr/>
          <a:lstStyle/>
          <a:p>
            <a:pPr marL="457200" indent="-457200" algn="l" rtl="0">
              <a:buFont typeface="+mj-lt"/>
              <a:buAutoNum type="arabicPeriod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Website</a:t>
            </a:r>
          </a:p>
          <a:p>
            <a:pPr marL="457200" indent="-457200" algn="l" rtl="0">
              <a:buFont typeface="+mj-lt"/>
              <a:buAutoNum type="arabicPeriod"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Application</a:t>
            </a:r>
          </a:p>
          <a:p>
            <a:pPr marL="457200" indent="-457200" algn="l" rtl="0">
              <a:buFont typeface="+mj-lt"/>
              <a:buAutoNum type="arabicPeriod"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EBooks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offline</a:t>
            </a:r>
          </a:p>
          <a:p>
            <a:pPr marL="457200" indent="-457200" algn="l" rtl="0">
              <a:buFont typeface="+mj-lt"/>
              <a:buAutoNum type="arabicPeriod"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International and local books</a:t>
            </a:r>
          </a:p>
          <a:p>
            <a:pPr marL="457200" indent="-457200" algn="l" rtl="0">
              <a:buFont typeface="+mj-lt"/>
              <a:buAutoNum type="arabicPeriod"/>
            </a:pP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Buy and borrow books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l" rtl="0">
              <a:buNone/>
            </a:pPr>
            <a:endParaRPr lang="ar-E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327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66E7924-13C7-44AA-A323-A6BA9C73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Project Assumptions:</a:t>
            </a:r>
            <a:endParaRPr lang="ar-EG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4E0A2FF-62E4-444E-BDC6-6D7AC9D9C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352801"/>
          </a:xfrm>
        </p:spPr>
        <p:txBody>
          <a:bodyPr>
            <a:normAutofit lnSpcReduction="10000"/>
          </a:bodyPr>
          <a:lstStyle/>
          <a:p>
            <a:pPr algn="l" rtl="0"/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This app </a:t>
            </a:r>
            <a:r>
              <a:rPr lang="en-US" sz="2800" b="0" i="0" dirty="0" smtClean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will </a:t>
            </a: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be universal in the world and very many users</a:t>
            </a:r>
          </a:p>
          <a:p>
            <a:pPr marL="0" indent="0" algn="l" rtl="0">
              <a:buNone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    will use it.</a:t>
            </a:r>
          </a:p>
          <a:p>
            <a:pPr marL="0" indent="0" algn="l" rtl="0">
              <a:buNone/>
            </a:pPr>
            <a:endParaRPr lang="en-US" sz="28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algn="l" rtl="0"/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It will provide all books, whether read or audio.</a:t>
            </a:r>
          </a:p>
          <a:p>
            <a:pPr marL="0" indent="0" algn="l" rtl="0">
              <a:buNone/>
            </a:pPr>
            <a:endParaRPr lang="en-US" sz="2800" dirty="0">
              <a:solidFill>
                <a:srgbClr val="050505"/>
              </a:solidFill>
              <a:latin typeface="Segoe UI Historic" panose="020B0502040204020203" pitchFamily="34" charset="0"/>
            </a:endParaRPr>
          </a:p>
          <a:p>
            <a:pPr algn="l" rtl="0"/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This application will be the most effective.</a:t>
            </a: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192470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4238C6-9E7A-4A93-BBEA-F7062B7A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680" y="127001"/>
            <a:ext cx="1513840" cy="726440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ln w="5271" cap="flat" cmpd="sng" algn="ctr">
                  <a:solidFill>
                    <a:srgbClr val="4579B8"/>
                  </a:solidFill>
                  <a:prstDash val="solid"/>
                  <a:round/>
                </a:ln>
                <a:gradFill>
                  <a:gsLst>
                    <a:gs pos="0">
                      <a:srgbClr val="BED3F9"/>
                    </a:gs>
                    <a:gs pos="9000">
                      <a:srgbClr val="9EC1FF"/>
                    </a:gs>
                    <a:gs pos="50000">
                      <a:srgbClr val="003692"/>
                    </a:gs>
                    <a:gs pos="79000">
                      <a:srgbClr val="9EC1FF"/>
                    </a:gs>
                    <a:gs pos="100000">
                      <a:srgbClr val="BED3F9"/>
                    </a:gs>
                  </a:gsLst>
                  <a:lin ang="54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WBS :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ar-EG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="" xmlns:a16="http://schemas.microsoft.com/office/drawing/2014/main" id="{50E37F02-C695-4E7F-9A63-AF888EA42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40" t="18782" r="26428" b="9512"/>
          <a:stretch/>
        </p:blipFill>
        <p:spPr>
          <a:xfrm>
            <a:off x="3959860" y="0"/>
            <a:ext cx="5245100" cy="6884194"/>
          </a:xfrm>
        </p:spPr>
      </p:pic>
    </p:spTree>
    <p:extLst>
      <p:ext uri="{BB962C8B-B14F-4D97-AF65-F5344CB8AC3E}">
        <p14:creationId xmlns:p14="http://schemas.microsoft.com/office/powerpoint/2010/main" val="38718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332DC9-7FAF-4AC7-BE0F-31A934E78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6000" b="1" baseline="-25000" dirty="0">
                <a:ln w="5271" cap="flat" cmpd="sng" algn="ctr">
                  <a:solidFill>
                    <a:srgbClr val="4579B8"/>
                  </a:solidFill>
                  <a:prstDash val="solid"/>
                  <a:round/>
                </a:ln>
                <a:gradFill>
                  <a:gsLst>
                    <a:gs pos="0">
                      <a:srgbClr val="BED3F9"/>
                    </a:gs>
                    <a:gs pos="9000">
                      <a:srgbClr val="9EC1FF"/>
                    </a:gs>
                    <a:gs pos="50000">
                      <a:srgbClr val="003692"/>
                    </a:gs>
                    <a:gs pos="79000">
                      <a:srgbClr val="9EC1FF"/>
                    </a:gs>
                    <a:gs pos="100000">
                      <a:srgbClr val="BED3F9"/>
                    </a:gs>
                  </a:gsLst>
                  <a:lin ang="5400000" scaled="0"/>
                </a:gra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Network</a:t>
            </a:r>
            <a:r>
              <a:rPr lang="en-US" sz="6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sz="60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ar-EG" sz="12500" baseline="-25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D4CA7507-DE37-4CBC-8784-E1F781881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43" t="26748" r="27684" b="35527"/>
          <a:stretch/>
        </p:blipFill>
        <p:spPr>
          <a:xfrm>
            <a:off x="2115956" y="1649393"/>
            <a:ext cx="9387068" cy="4774555"/>
          </a:xfrm>
        </p:spPr>
      </p:pic>
    </p:spTree>
    <p:extLst>
      <p:ext uri="{BB962C8B-B14F-4D97-AF65-F5344CB8AC3E}">
        <p14:creationId xmlns:p14="http://schemas.microsoft.com/office/powerpoint/2010/main" val="3369928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61662F81-BB14-41D1-AEFF-7D27AFE16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9" t="20490" r="54704" b="18725"/>
          <a:stretch/>
        </p:blipFill>
        <p:spPr>
          <a:xfrm>
            <a:off x="3694175" y="27431"/>
            <a:ext cx="5711953" cy="6803137"/>
          </a:xfrm>
        </p:spPr>
      </p:pic>
    </p:spTree>
    <p:extLst>
      <p:ext uri="{BB962C8B-B14F-4D97-AF65-F5344CB8AC3E}">
        <p14:creationId xmlns:p14="http://schemas.microsoft.com/office/powerpoint/2010/main" val="1484352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826" y="1007389"/>
            <a:ext cx="10304222" cy="4889716"/>
          </a:xfrm>
        </p:spPr>
      </p:pic>
    </p:spTree>
    <p:extLst>
      <p:ext uri="{BB962C8B-B14F-4D97-AF65-F5344CB8AC3E}">
        <p14:creationId xmlns:p14="http://schemas.microsoft.com/office/powerpoint/2010/main" val="3721728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861FA7-CF78-40FE-A73F-9229D4ADE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5" y="0"/>
            <a:ext cx="9702799" cy="695325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Matrix Responsibilities</a:t>
            </a:r>
            <a:endParaRPr lang="ar-EG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577" y="553757"/>
            <a:ext cx="8252849" cy="584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21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25E762-08A3-4BD9-AC06-65E28AFD5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300" y="247650"/>
            <a:ext cx="5778499" cy="819150"/>
          </a:xfrm>
        </p:spPr>
        <p:txBody>
          <a:bodyPr>
            <a:noAutofit/>
          </a:bodyPr>
          <a:lstStyle/>
          <a:p>
            <a:r>
              <a:rPr lang="en-US" sz="3200" b="1" dirty="0">
                <a:ln w="5271" cap="flat" cmpd="sng" algn="ctr">
                  <a:solidFill>
                    <a:srgbClr val="4579B8"/>
                  </a:solidFill>
                  <a:prstDash val="solid"/>
                  <a:round/>
                </a:ln>
                <a:gradFill>
                  <a:gsLst>
                    <a:gs pos="0">
                      <a:srgbClr val="BED3F9"/>
                    </a:gs>
                    <a:gs pos="9000">
                      <a:srgbClr val="9EC1FF"/>
                    </a:gs>
                    <a:gs pos="50000">
                      <a:srgbClr val="003692"/>
                    </a:gs>
                    <a:gs pos="79000">
                      <a:srgbClr val="9EC1FF"/>
                    </a:gs>
                    <a:gs pos="100000">
                      <a:srgbClr val="BED3F9"/>
                    </a:gs>
                  </a:gsLst>
                  <a:lin ang="5400000" scaled="0"/>
                </a:gra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Resource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ar-EG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BD08F7B-A5BD-4B47-BCFF-250C937C3D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0" t="21185" r="9166" b="10371"/>
          <a:stretch/>
        </p:blipFill>
        <p:spPr>
          <a:xfrm>
            <a:off x="1771930" y="1259840"/>
            <a:ext cx="10420070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81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3AC757E-2EBD-40BF-87E7-C9C13E6C3E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39" t="22447" r="32215" b="12743"/>
          <a:stretch/>
        </p:blipFill>
        <p:spPr>
          <a:xfrm>
            <a:off x="3103943" y="0"/>
            <a:ext cx="6896583" cy="686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101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7EB7CA-9A93-4993-A0DE-EA4DA89E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38" y="409937"/>
            <a:ext cx="4581363" cy="65686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n w="5271" cap="flat" cmpd="sng" algn="ctr">
                  <a:solidFill>
                    <a:srgbClr val="4579B8"/>
                  </a:solidFill>
                  <a:prstDash val="solid"/>
                  <a:round/>
                </a:ln>
                <a:gradFill>
                  <a:gsLst>
                    <a:gs pos="0">
                      <a:srgbClr val="BED3F9"/>
                    </a:gs>
                    <a:gs pos="9000">
                      <a:srgbClr val="9EC1FF"/>
                    </a:gs>
                    <a:gs pos="50000">
                      <a:srgbClr val="003692"/>
                    </a:gs>
                    <a:gs pos="79000">
                      <a:srgbClr val="9EC1FF"/>
                    </a:gs>
                    <a:gs pos="100000">
                      <a:srgbClr val="BED3F9"/>
                    </a:gs>
                  </a:gsLst>
                  <a:lin ang="5400000" scaled="0"/>
                </a:gra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Budget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ar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1C9BFE0-C3B0-4B01-AA54-2F7AF6638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44" t="33265" r="40855" b="9697"/>
          <a:stretch/>
        </p:blipFill>
        <p:spPr>
          <a:xfrm>
            <a:off x="4511836" y="0"/>
            <a:ext cx="5280304" cy="6858000"/>
          </a:xfrm>
        </p:spPr>
      </p:pic>
    </p:spTree>
    <p:extLst>
      <p:ext uri="{BB962C8B-B14F-4D97-AF65-F5344CB8AC3E}">
        <p14:creationId xmlns:p14="http://schemas.microsoft.com/office/powerpoint/2010/main" val="379308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80A0DEA-6D5F-4920-8944-0222EE07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960" y="0"/>
            <a:ext cx="9918064" cy="1645921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Baseline Budget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sz="1800" dirty="0">
                <a:solidFill>
                  <a:schemeClr val="accent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ar-EG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BFBF5887-4AB2-443C-ADCE-445BB8CC9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90" t="23728" r="32353" b="14291"/>
          <a:stretch/>
        </p:blipFill>
        <p:spPr>
          <a:xfrm>
            <a:off x="4075412" y="0"/>
            <a:ext cx="7175180" cy="6842996"/>
          </a:xfrm>
        </p:spPr>
      </p:pic>
    </p:spTree>
    <p:extLst>
      <p:ext uri="{BB962C8B-B14F-4D97-AF65-F5344CB8AC3E}">
        <p14:creationId xmlns:p14="http://schemas.microsoft.com/office/powerpoint/2010/main" val="732312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53555C-AAB1-4FAC-9B75-4BC2F055D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4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Project Features: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23129C0-7DAA-4B60-BCB0-F1F81328C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350" y="1752599"/>
            <a:ext cx="10018713" cy="4815840"/>
          </a:xfrm>
        </p:spPr>
        <p:txBody>
          <a:bodyPr>
            <a:normAutofit fontScale="92500" lnSpcReduction="20000"/>
          </a:bodyPr>
          <a:lstStyle/>
          <a:p>
            <a:pPr marL="457200" indent="-457200" algn="l" rtl="0">
              <a:buFont typeface="+mj-lt"/>
              <a:buAutoNum type="arabicParenR"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Providing all kinds of books, articles, novels and stories.</a:t>
            </a:r>
          </a:p>
          <a:p>
            <a:pPr marL="457200" indent="-457200" algn="l" rtl="0">
              <a:buFont typeface="+mj-lt"/>
              <a:buAutoNum type="arabicParenR"/>
            </a:pPr>
            <a:endParaRPr lang="en-US" sz="28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marL="457200" indent="-457200" algn="l" rtl="0">
              <a:buFont typeface="+mj-lt"/>
              <a:buAutoNum type="arabicParenR"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Providing these same audio books for people who cannot read</a:t>
            </a:r>
            <a:r>
              <a:rPr lang="en-US" sz="2800" dirty="0">
                <a:solidFill>
                  <a:srgbClr val="050505"/>
                </a:solidFill>
                <a:latin typeface="Segoe UI Historic" panose="020B0502040204020203" pitchFamily="34" charset="0"/>
              </a:rPr>
              <a:t>.</a:t>
            </a:r>
          </a:p>
          <a:p>
            <a:pPr marL="457200" indent="-457200" algn="l" rtl="0">
              <a:buFont typeface="+mj-lt"/>
              <a:buAutoNum type="arabicParenR"/>
            </a:pPr>
            <a:endParaRPr lang="en-US" sz="2800" dirty="0">
              <a:solidFill>
                <a:srgbClr val="050505"/>
              </a:solidFill>
              <a:latin typeface="Segoe UI Historic" panose="020B0502040204020203" pitchFamily="34" charset="0"/>
            </a:endParaRPr>
          </a:p>
          <a:p>
            <a:pPr marL="457200" indent="-457200" algn="l" rtl="0">
              <a:buFont typeface="+mj-lt"/>
              <a:buAutoNum type="arabicParenR"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Easy access to books with minimal effort.</a:t>
            </a:r>
          </a:p>
          <a:p>
            <a:pPr marL="457200" indent="-457200" algn="l" rtl="0">
              <a:buFont typeface="+mj-lt"/>
              <a:buAutoNum type="arabicParenR"/>
            </a:pPr>
            <a:endParaRPr lang="en-US" sz="28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marL="457200" indent="-457200" algn="l" rtl="0">
              <a:buFont typeface="+mj-lt"/>
              <a:buAutoNum type="arabicParenR"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Easy access to rare books.</a:t>
            </a:r>
          </a:p>
          <a:p>
            <a:pPr marL="457200" indent="-457200" algn="l" rtl="0">
              <a:buFont typeface="+mj-lt"/>
              <a:buAutoNum type="arabicParenR"/>
            </a:pPr>
            <a:endParaRPr lang="en-US" sz="2800" dirty="0">
              <a:solidFill>
                <a:srgbClr val="050505"/>
              </a:solidFill>
              <a:latin typeface="Segoe UI Historic" panose="020B0502040204020203" pitchFamily="34" charset="0"/>
            </a:endParaRPr>
          </a:p>
          <a:p>
            <a:pPr marL="457200" indent="-457200" algn="l" rtl="0">
              <a:buFont typeface="+mj-lt"/>
              <a:buAutoNum type="arabicParenR"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Save time You don't have to go to the library as long as you have the Internet, it is available 24 hours a day.</a:t>
            </a:r>
            <a:endParaRPr lang="en-US" sz="2800" dirty="0">
              <a:solidFill>
                <a:srgbClr val="050505"/>
              </a:solidFill>
              <a:latin typeface="Segoe UI Historic" panose="020B0502040204020203" pitchFamily="34" charset="0"/>
            </a:endParaRPr>
          </a:p>
          <a:p>
            <a:pPr marL="0" indent="0" algn="l" rtl="0">
              <a:buNone/>
            </a:pP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2344179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DA2B6A-2F9C-4BEC-A47A-7633CCDD0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0500"/>
            <a:ext cx="10018713" cy="1752599"/>
          </a:xfrm>
        </p:spPr>
        <p:txBody>
          <a:bodyPr>
            <a:normAutofit/>
          </a:bodyPr>
          <a:lstStyle/>
          <a:p>
            <a:r>
              <a:rPr lang="en-US" sz="60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Project defects:</a:t>
            </a:r>
            <a:endParaRPr lang="ar-EG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67921D8-F3FE-4821-9413-A095F8C8D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92679"/>
            <a:ext cx="10018713" cy="4008121"/>
          </a:xfrm>
        </p:spPr>
        <p:txBody>
          <a:bodyPr>
            <a:normAutofit/>
          </a:bodyPr>
          <a:lstStyle/>
          <a:p>
            <a:pPr marL="457200" indent="-457200" algn="l" rtl="0">
              <a:buFont typeface="+mj-lt"/>
              <a:buAutoNum type="arabicPeriod"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The application cannot be accessed without the Internet.</a:t>
            </a:r>
          </a:p>
          <a:p>
            <a:pPr marL="457200" indent="-457200" algn="l" rtl="0">
              <a:buFont typeface="+mj-lt"/>
              <a:buAutoNum type="arabicPeriod"/>
            </a:pPr>
            <a:endParaRPr lang="en-US" sz="2800" b="0" i="0" dirty="0">
              <a:solidFill>
                <a:srgbClr val="050505"/>
              </a:solidFill>
              <a:effectLst/>
              <a:latin typeface="Segoe UI Historic" panose="020B0502040204020203" pitchFamily="34" charset="0"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The application does not accept cash payments, electronic</a:t>
            </a:r>
          </a:p>
          <a:p>
            <a:pPr marL="0" indent="0" algn="l" rtl="0">
              <a:buNone/>
            </a:pPr>
            <a:r>
              <a:rPr lang="en-US" sz="2800" b="0" i="0" dirty="0">
                <a:solidFill>
                  <a:srgbClr val="050505"/>
                </a:solidFill>
                <a:effectLst/>
                <a:latin typeface="Segoe UI Historic" panose="020B0502040204020203" pitchFamily="34" charset="0"/>
              </a:rPr>
              <a:t>     payment must be made when purchasing any book. </a:t>
            </a:r>
            <a:r>
              <a:rPr lang="en-US" sz="2800" dirty="0"/>
              <a:t/>
            </a:r>
            <a:br>
              <a:rPr lang="en-US" sz="2800" dirty="0"/>
            </a:br>
            <a:endParaRPr lang="ar-EG" sz="2800" dirty="0"/>
          </a:p>
        </p:txBody>
      </p:sp>
    </p:spTree>
    <p:extLst>
      <p:ext uri="{BB962C8B-B14F-4D97-AF65-F5344CB8AC3E}">
        <p14:creationId xmlns:p14="http://schemas.microsoft.com/office/powerpoint/2010/main" val="4091151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Words>313</Words>
  <Application>Microsoft Office PowerPoint</Application>
  <PresentationFormat>Custom</PresentationFormat>
  <Paragraphs>69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Parallax</vt:lpstr>
      <vt:lpstr>Project Management</vt:lpstr>
      <vt:lpstr>Team Name:</vt:lpstr>
      <vt:lpstr>   The first and main objective of this project:</vt:lpstr>
      <vt:lpstr>How does the team handle the work?</vt:lpstr>
      <vt:lpstr>Project Deliverables:  </vt:lpstr>
      <vt:lpstr>Project Assumptions:</vt:lpstr>
      <vt:lpstr>The WBS : </vt:lpstr>
      <vt:lpstr>Network </vt:lpstr>
      <vt:lpstr>PowerPoint Presentation</vt:lpstr>
      <vt:lpstr>PowerPoint Presentation</vt:lpstr>
      <vt:lpstr>The Matrix Responsibilities</vt:lpstr>
      <vt:lpstr>Resource </vt:lpstr>
      <vt:lpstr>PowerPoint Presentation</vt:lpstr>
      <vt:lpstr>Budget </vt:lpstr>
      <vt:lpstr>Baseline Budget </vt:lpstr>
      <vt:lpstr>Project Features:</vt:lpstr>
      <vt:lpstr>Project defects: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salma mohamed</dc:creator>
  <cp:lastModifiedBy>AK</cp:lastModifiedBy>
  <cp:revision>28</cp:revision>
  <dcterms:created xsi:type="dcterms:W3CDTF">2022-01-02T19:34:40Z</dcterms:created>
  <dcterms:modified xsi:type="dcterms:W3CDTF">2022-01-03T10:41:30Z</dcterms:modified>
</cp:coreProperties>
</file>